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8114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·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Mutual Fund Analytics Platform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Engineering, ETL Pipeline &amp; Interactive Dashboard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Devendra Gautam  ·  Individual Capstone  · 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mutual fund industry manages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Rs. 81 lakh crore</a:t>
            </a: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across 1,908 schemes and 26.12 crore folios — but NAV, AUM, SIP and holdings data live in fragmented, differently-formatted sources with no unified analytics layer.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5204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full-stack platform that ingests public AMFI/mfapi.in data, transforms it through a reproducible ETL pipeline, stores it in a relational star schema, and surfaces risk-adjusted fund insights via an interactive dashboard.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Project Objectives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0" y="20848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084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20574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pipeline from raw AMFI data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0" y="2743200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12280" y="27157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7-table SQL star schema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40156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12280" y="3374136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19-chart EDA notebook with real findings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0" y="40599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059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12280" y="4032504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/ Sortino / Alpha / Beta / VaR metrics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0" y="471830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18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4690872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interactive Power BI dashboard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00800" y="53766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5376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53492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behaviour &amp; risk analytics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0292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capstone — real AMFI-sourced fund data, simulated investor transactions.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FOUNDATION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Sources &amp; Datasets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52704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fund schemes, 10 AMCs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46120" y="152704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46K+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NAV observations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8932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52704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32.8K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08076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732520" y="14173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732520" y="1527048"/>
            <a:ext cx="2606040" cy="6217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23960" y="214884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 provided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80360"/>
          <a:ext cx="6400800" cy="22860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India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NAV, AUM, folio, SIP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/ Monthly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mfapi.in REST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NAV (JSON, no auth)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NSE / BSE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index prices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AMFI Monthly 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 SIP &amp; flow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450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02920" y="2880360"/>
            <a:ext cx="640080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59436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788920" y="28803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257800" y="28803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7178040" y="2880360"/>
            <a:ext cx="4526280" cy="3291840"/>
          </a:xfrm>
          <a:prstGeom prst="roundRect">
            <a:avLst>
              <a:gd name="adj" fmla="val 2222"/>
            </a:avLst>
          </a:prstGeom>
          <a:solidFill>
            <a:srgbClr val="F4F6FC"/>
          </a:solidFill>
          <a:ln/>
        </p:spPr>
      </p:sp>
      <p:sp>
        <p:nvSpPr>
          <p:cNvPr id="25" name="Text 22"/>
          <p:cNvSpPr/>
          <p:nvPr/>
        </p:nvSpPr>
        <p:spPr>
          <a:xfrm>
            <a:off x="7406640" y="30632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Anchors Embedded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406640" y="357530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4"/>
          <p:cNvSpPr/>
          <p:nvPr/>
        </p:nvSpPr>
        <p:spPr>
          <a:xfrm>
            <a:off x="7680960" y="3520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MF AUM (Dec-25): Rs. 12.50 lakh crore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7406640" y="416966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9" name="Text 26"/>
          <p:cNvSpPr/>
          <p:nvPr/>
        </p:nvSpPr>
        <p:spPr>
          <a:xfrm>
            <a:off x="7680960" y="41148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(Dec-25): Rs. 31,002 crore ATH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7406640" y="476402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8"/>
          <p:cNvSpPr/>
          <p:nvPr/>
        </p:nvSpPr>
        <p:spPr>
          <a:xfrm>
            <a:off x="7680960" y="4709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MF folios (Dec-25): 26.12 crore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7406640" y="535838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0" y="5303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AUM (Dec-25): Rs. 81 lakh crore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0292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fund identifiers, NAV anchors and AUM figures sourced from public AMFI / mfapi.in data.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ETL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764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" y="213055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CSVs + live mfapi.in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pulls (6 schemes)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14600" y="21031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70632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44506B"/>
          </a:solidFill>
          <a:ln/>
        </p:spPr>
      </p:sp>
      <p:sp>
        <p:nvSpPr>
          <p:cNvPr id="12" name="Text 10"/>
          <p:cNvSpPr/>
          <p:nvPr/>
        </p:nvSpPr>
        <p:spPr>
          <a:xfrm>
            <a:off x="2770632" y="1764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213055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forward-fill,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standardise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82312" y="21031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38344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038344" y="1764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48072" y="213055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7-table SQLite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50024" y="21031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06056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44506B"/>
          </a:solidFill>
          <a:ln/>
        </p:spPr>
      </p:sp>
      <p:sp>
        <p:nvSpPr>
          <p:cNvPr id="20" name="Text 18"/>
          <p:cNvSpPr/>
          <p:nvPr/>
        </p:nvSpPr>
        <p:spPr>
          <a:xfrm>
            <a:off x="7306056" y="1764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15784" y="213055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/ SciPy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return metrics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17736" y="2103120"/>
            <a:ext cx="256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573768" y="160020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E8734A"/>
          </a:solidFill>
          <a:ln/>
        </p:spPr>
      </p:sp>
      <p:sp>
        <p:nvSpPr>
          <p:cNvPr id="24" name="Text 22"/>
          <p:cNvSpPr/>
          <p:nvPr/>
        </p:nvSpPr>
        <p:spPr>
          <a:xfrm>
            <a:off x="9573768" y="1764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83496" y="2130552"/>
            <a:ext cx="17922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4-page Power BI</a:t>
            </a:r>
            <a:endParaRPr lang="en-US" sz="105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3291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— 7 Tables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3749040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49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dim_fund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749040" y="37490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937760" y="37490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rows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133088"/>
            <a:ext cx="5577840" cy="384048"/>
          </a:xfrm>
          <a:prstGeom prst="rect">
            <a:avLst/>
          </a:prstGeom>
          <a:solidFill>
            <a:srgbClr val="F4F6FC"/>
          </a:solidFill>
          <a:ln w="6350">
            <a:solidFill>
              <a:srgbClr val="E3E7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13308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749040" y="413308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0" y="413308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~1,612 rows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4517136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51713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fact_nav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749040" y="451713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37760" y="451713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 rows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02920" y="4901184"/>
            <a:ext cx="5577840" cy="384048"/>
          </a:xfrm>
          <a:prstGeom prst="rect">
            <a:avLst/>
          </a:prstGeom>
          <a:solidFill>
            <a:srgbClr val="F4F6FC"/>
          </a:solidFill>
          <a:ln w="6350">
            <a:solidFill>
              <a:srgbClr val="E3E7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90118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fact_transactions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749040" y="490118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37760" y="490118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rows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02920" y="5285232"/>
            <a:ext cx="5577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528523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fact_performance / fact_aum / fact_sip_industry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749040" y="528523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37760" y="528523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90 / 48 rows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0" y="3291840"/>
            <a:ext cx="5303520" cy="265176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</p:spPr>
      </p:sp>
      <p:sp>
        <p:nvSpPr>
          <p:cNvPr id="48" name="Text 46"/>
          <p:cNvSpPr/>
          <p:nvPr/>
        </p:nvSpPr>
        <p:spPr>
          <a:xfrm>
            <a:off x="6629400" y="3474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star schema?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629400" y="388620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 (dim_fund, dim_date) describe slow-changing attributes. Fact tables record events — NAV, transactions, performance — each linked via amfi_code. This mirrors production BI pipelines at firms like Zerodha and Groww, and lets Power BI auto-build relationships and cross-filter cleanly across every dashboard page.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0292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scripts: data_ingestion.py → data_cleaning.py → load_to_db.py (see GitHub repo).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Industry Growth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pic>
        <p:nvPicPr>
          <p:cNvPr id="7" name="Image 0" descr="reports/charts/02_aum_growth_by_ho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6263640" cy="3328416"/>
          </a:xfrm>
          <a:prstGeom prst="rect">
            <a:avLst/>
          </a:prstGeom>
        </p:spPr>
      </p:pic>
      <p:pic>
        <p:nvPicPr>
          <p:cNvPr id="8" name="Image 1" descr="reports/charts/07_folio_count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754880"/>
            <a:ext cx="6263640" cy="1691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995160" y="1325880"/>
            <a:ext cx="4709160" cy="512064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10" name="Text 6"/>
          <p:cNvSpPr/>
          <p:nvPr/>
        </p:nvSpPr>
        <p:spPr>
          <a:xfrm>
            <a:off x="722376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223760" y="2020824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8"/>
          <p:cNvSpPr/>
          <p:nvPr/>
        </p:nvSpPr>
        <p:spPr>
          <a:xfrm>
            <a:off x="7452360" y="19202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Mutual Fund leads AUM every single year, 2022–2025 — consistent with its real-world #1 position.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7223760" y="3072384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7452360" y="29718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 nearly doubled: 13.26 Cr → 26.12 Cr (Jan-22 to Dec-25).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223760" y="4123944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2"/>
          <p:cNvSpPr/>
          <p:nvPr/>
        </p:nvSpPr>
        <p:spPr>
          <a:xfrm>
            <a:off x="7452360" y="402336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growth is accelerating, not linear — the 2024–25 jump is the steepest in the sample.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0292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notebooks/EDA_Analysis.ipynb (19 charts).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EXPLORATION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Highlights — Flows &amp; Structure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pic>
        <p:nvPicPr>
          <p:cNvPr id="7" name="Image 0" descr="reports/charts/03_sip_inflow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6263640" cy="2999232"/>
          </a:xfrm>
          <a:prstGeom prst="rect">
            <a:avLst/>
          </a:prstGeom>
        </p:spPr>
      </p:pic>
      <p:pic>
        <p:nvPicPr>
          <p:cNvPr id="8" name="Image 1" descr="reports/charts/09_sector_allo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434840"/>
            <a:ext cx="3017520" cy="2011680"/>
          </a:xfrm>
          <a:prstGeom prst="rect">
            <a:avLst/>
          </a:prstGeom>
        </p:spPr>
      </p:pic>
      <p:pic>
        <p:nvPicPr>
          <p:cNvPr id="9" name="Image 2" descr="reports/charts/08_correlation_matri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4434840"/>
            <a:ext cx="3108960" cy="201168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995160" y="1325880"/>
            <a:ext cx="4709160" cy="5120640"/>
          </a:xfrm>
          <a:prstGeom prst="roundRect">
            <a:avLst>
              <a:gd name="adj" fmla="val 1553"/>
            </a:avLst>
          </a:prstGeom>
          <a:solidFill>
            <a:srgbClr val="F4F6FC"/>
          </a:solidFill>
          <a:ln/>
        </p:spPr>
      </p:sp>
      <p:sp>
        <p:nvSpPr>
          <p:cNvPr id="11" name="Text 6"/>
          <p:cNvSpPr/>
          <p:nvPr/>
        </p:nvSpPr>
        <p:spPr>
          <a:xfrm>
            <a:off x="7223760" y="15087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shows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223760" y="2020824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8"/>
          <p:cNvSpPr/>
          <p:nvPr/>
        </p:nvSpPr>
        <p:spPr>
          <a:xfrm>
            <a:off x="7452360" y="19202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grew near-linearly, peaking at the real Rs. 31,002 Cr all-time high (Dec-25).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223760" y="3163824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0"/>
          <p:cNvSpPr/>
          <p:nvPr/>
        </p:nvSpPr>
        <p:spPr>
          <a:xfrm>
            <a:off x="7452360" y="30632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holdings concentrate in a handful of sectors — Banking, IT and Pharma dominate.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23760" y="4306824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2"/>
          <p:cNvSpPr/>
          <p:nvPr/>
        </p:nvSpPr>
        <p:spPr>
          <a:xfrm>
            <a:off x="7452360" y="4206240"/>
            <a:ext cx="40233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return correlations are surprisingly low (–0.07 to +0.07) — returns look largely idiosyncratic, not one shared market factor.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292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notebooks/EDA_Analysis.ipynb (19 charts).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 Scorecard — Methodology &amp; Leaders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Score (0–100)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59436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8745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Return  —  30%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386584"/>
            <a:ext cx="49530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38658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 —  25%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98648"/>
            <a:ext cx="39624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89864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vs Nifty 100  —  20%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410712"/>
            <a:ext cx="29718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1071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Ratio (inv.)  —  15%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922776"/>
            <a:ext cx="198120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227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(inv.)  —  10%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66344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funds by raw Sharpe ratio alone favours ultra-low-volatility Liquid funds (Sharpe up to 7.68) over genuinely strong equity performers. The composite scorecard corrects for this by blending return, risk-adjusted performance, cost and drawdown.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0" y="1371600"/>
            <a:ext cx="4846320" cy="5029200"/>
          </a:xfrm>
          <a:prstGeom prst="roundRect">
            <a:avLst>
              <a:gd name="adj" fmla="val 1509"/>
            </a:avLst>
          </a:prstGeom>
          <a:solidFill>
            <a:srgbClr val="F4F6FC"/>
          </a:solidFill>
          <a:ln/>
        </p:spPr>
      </p:sp>
      <p:sp>
        <p:nvSpPr>
          <p:cNvPr id="20" name="Text 18"/>
          <p:cNvSpPr/>
          <p:nvPr/>
        </p:nvSpPr>
        <p:spPr>
          <a:xfrm>
            <a:off x="7086600" y="15544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5 Funds by Scorecard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086600" y="2103120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2103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35240" y="2057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Mirae Asset Large Cap Fund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35240" y="2395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86.25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086600" y="28529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086600" y="2852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35240" y="28072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 Fund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635240" y="31455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82.25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86600" y="360273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708660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35570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Kotak Flexicap Fund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635240" y="3895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82.00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086600" y="4352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4352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35240" y="430682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Mid-Cap Opportunities Fund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635240" y="46451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80.75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086600" y="510235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7086600" y="51023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35240" y="505663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Bluechip Fund (Direct)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635240" y="5394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80.00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Formulas: CAGR, Sharpe (Rf=6.5%), Sortino, OLS Alpha/Beta vs Nifty 100, Max Drawdown — see Final_Report.pdf §7.1.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PERFORMANCE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Funds vs Benchmark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pic>
        <p:nvPicPr>
          <p:cNvPr id="7" name="Image 0" descr="reports/charts/10_benchma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7223760" cy="37947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" y="5257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5367528"/>
            <a:ext cx="228600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+86.25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94360" y="5943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scorecard fund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880360" y="5257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880360" y="5367528"/>
            <a:ext cx="228600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7.68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2971800" y="5943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raw Sharpe (Liquid)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257800" y="5257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4F6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57800" y="5367528"/>
            <a:ext cx="2286000" cy="5760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6.5%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349240" y="5943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Risk-free rate used (Rf)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909560" y="1325880"/>
            <a:ext cx="3794760" cy="3794760"/>
          </a:xfrm>
          <a:prstGeom prst="roundRect">
            <a:avLst>
              <a:gd name="adj" fmla="val 1928"/>
            </a:avLst>
          </a:prstGeom>
          <a:solidFill>
            <a:srgbClr val="F4F6FC"/>
          </a:solidFill>
          <a:ln/>
        </p:spPr>
      </p:sp>
      <p:sp>
        <p:nvSpPr>
          <p:cNvPr id="18" name="Text 15"/>
          <p:cNvSpPr/>
          <p:nvPr/>
        </p:nvSpPr>
        <p:spPr>
          <a:xfrm>
            <a:off x="8138160" y="15087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38160" y="196596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series indexed to 100 at the start of the 3-year window. Every one of the top-5 scorecard funds meaningfully outpaces Nifty 100 over the full period — validating the composite scoring approach, not just cherry-picking high-Sharpe outliers.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02920" y="65379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notebooks/Performance_Analytics.ipynb → data/processed/fund_scorecard.csv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Industry &amp; Performance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pic>
        <p:nvPicPr>
          <p:cNvPr id="7" name="Image 0" descr="reports/dashboard_screenshots/01_industry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5440680" cy="2999232"/>
          </a:xfrm>
          <a:prstGeom prst="rect">
            <a:avLst/>
          </a:prstGeom>
        </p:spPr>
      </p:pic>
      <p:pic>
        <p:nvPicPr>
          <p:cNvPr id="8" name="Image 1" descr="reports/dashboard_screenshots/02_fund_perform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25880"/>
            <a:ext cx="5440680" cy="2999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3891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7091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pinned to the latest period, AUM trend, AUM-by-AMC bar chart.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72200" y="43891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72200" y="47091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 scorecard, return-vs-drawdown scatter, NAV trend, 3 slicers.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53492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53492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 ·  bluestock_mf_dashboard.pbix  ·  4 pages, cross-filtering slicers on every page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Dashboard — Investors &amp; Markets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pic>
        <p:nvPicPr>
          <p:cNvPr id="7" name="Image 0" descr="reports/dashboard_screenshots/03_investor_analy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5880"/>
            <a:ext cx="5440680" cy="2999232"/>
          </a:xfrm>
          <a:prstGeom prst="rect">
            <a:avLst/>
          </a:prstGeom>
        </p:spPr>
      </p:pic>
      <p:pic>
        <p:nvPicPr>
          <p:cNvPr id="8" name="Image 1" descr="reports/dashboard_screenshots/04_sip_market_tre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25880"/>
            <a:ext cx="5440680" cy="2999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3891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02920" y="47091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state, SIP/Lumpsum/Redemption split, age-group SIP behaviour.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172200" y="4389120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Market Trends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172200" y="4709160"/>
            <a:ext cx="5440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 vs Nifty 50, category-inflow heatmap, Top-5 categories by net inflow.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02920" y="5349240"/>
            <a:ext cx="11109960" cy="960120"/>
          </a:xfrm>
          <a:prstGeom prst="roundRect">
            <a:avLst>
              <a:gd name="adj" fmla="val 7619"/>
            </a:avLst>
          </a:prstGeom>
          <a:solidFill>
            <a:srgbClr val="F4F6FC"/>
          </a:solidFill>
          <a:ln/>
        </p:spPr>
      </p:sp>
      <p:sp>
        <p:nvSpPr>
          <p:cNvPr id="14" name="Text 10"/>
          <p:cNvSpPr/>
          <p:nvPr/>
        </p:nvSpPr>
        <p:spPr>
          <a:xfrm>
            <a:off x="777240" y="534924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SIP inflow vs Nifty 50 is shown as two time-aligned charts rather than one true dual-axis visual — a cross-table relationship was built but the combo chart did not filter correctly. See Final_Report.pdf §10.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SYNTHESIS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402336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1475720" y="274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1475720" y="274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 continuity is a real problem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long-term SIP investors (6+ SIPs) show gaps &gt;35 days between payments — most “regular” investors aren't actually regular.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26280" y="16002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262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26280" y="21945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Cap carries the tail risk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26280" y="27432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SBI, Axis and ABSL Small Cap funds post the worst VaR/CVaR — daily losses beyond -2.6% at the 95% confidence level.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92440" y="137160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160020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219456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Sharpe alone misleads fund choice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27432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funds top the Sharpe leaderboard purely from low volatility — the composite scorecard corrects for this.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39319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31520" y="416052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47548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was the pivotal onboarding year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3035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4,624 investors joined in 2024 vs just 138 in 2025 — the platform's growth is heavily front-loaded.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297680" y="39319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28" name="Shape 26"/>
          <p:cNvSpPr/>
          <p:nvPr/>
        </p:nvSpPr>
        <p:spPr>
          <a:xfrm>
            <a:off x="4526280" y="416052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26280" y="47548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Concentration risk hides in category labels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26280" y="53035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(HHI ≈ 2,968) is far more sector-concentrated than category peers — not visible without HHI analysis.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92440" y="3931920"/>
            <a:ext cx="3611880" cy="2331720"/>
          </a:xfrm>
          <a:prstGeom prst="roundRect">
            <a:avLst>
              <a:gd name="adj" fmla="val 3137"/>
            </a:avLst>
          </a:prstGeom>
          <a:solidFill>
            <a:srgbClr val="F4F6FC"/>
          </a:solidFill>
          <a:ln/>
        </p:spPr>
      </p:sp>
      <p:sp>
        <p:nvSpPr>
          <p:cNvPr id="33" name="Shape 31"/>
          <p:cNvSpPr/>
          <p:nvPr/>
        </p:nvSpPr>
        <p:spPr>
          <a:xfrm>
            <a:off x="8321040" y="4160520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4" name="Text 32"/>
          <p:cNvSpPr/>
          <p:nvPr/>
        </p:nvSpPr>
        <p:spPr>
          <a:xfrm>
            <a:off x="83210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21040" y="47548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SBI leads AUM every year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21040" y="53035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#1 by AUM across 2022–2025, matching its real-world position as India's largest AMC.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 · CAPSTONE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notebooks, SQL, dashboard and report on GitHub — tagged v1.0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6263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Devendra Gautam  ·  bluestock-mf-capstone  ·  August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846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github.com/Devendragautam/bluestock-mf-capstone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1324</Words>
  <Application>Microsoft Office PowerPoint</Application>
  <PresentationFormat>Widescreen</PresentationFormat>
  <Paragraphs>210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Devendra Gautam</cp:lastModifiedBy>
  <cp:revision>2</cp:revision>
  <dcterms:created xsi:type="dcterms:W3CDTF">2026-08-13T02:06:26Z</dcterms:created>
  <dcterms:modified xsi:type="dcterms:W3CDTF">2026-08-13T09:54:33Z</dcterms:modified>
</cp:coreProperties>
</file>